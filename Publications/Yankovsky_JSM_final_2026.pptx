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72" r:id="rId6"/>
    <p:sldId id="265" r:id="rId7"/>
    <p:sldId id="268" r:id="rId8"/>
    <p:sldId id="273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50"/>
    <p:restoredTop sz="96176"/>
  </p:normalViewPr>
  <p:slideViewPr>
    <p:cSldViewPr snapToGrid="0">
      <p:cViewPr varScale="1">
        <p:scale>
          <a:sx n="83" d="100"/>
          <a:sy n="83" d="100"/>
        </p:scale>
        <p:origin x="364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e Yankovsky" userId="20f81b14-299c-4897-9fa1-243a9635961c" providerId="ADAL" clId="{6A6AB0BD-1F2C-4B1F-81A3-B0154943E7BF}"/>
    <pc:docChg chg="custSel modSld">
      <pc:chgData name="Eugene Yankovsky" userId="20f81b14-299c-4897-9fa1-243a9635961c" providerId="ADAL" clId="{6A6AB0BD-1F2C-4B1F-81A3-B0154943E7BF}" dt="2026-08-20T16:44:39.289" v="495" actId="20577"/>
      <pc:docMkLst>
        <pc:docMk/>
      </pc:docMkLst>
      <pc:sldChg chg="addSp delSp modSp mod">
        <pc:chgData name="Eugene Yankovsky" userId="20f81b14-299c-4897-9fa1-243a9635961c" providerId="ADAL" clId="{6A6AB0BD-1F2C-4B1F-81A3-B0154943E7BF}" dt="2026-08-20T16:43:17.342" v="484" actId="20577"/>
        <pc:sldMkLst>
          <pc:docMk/>
          <pc:sldMk cId="1046650619" sldId="258"/>
        </pc:sldMkLst>
        <pc:spChg chg="mod">
          <ac:chgData name="Eugene Yankovsky" userId="20f81b14-299c-4897-9fa1-243a9635961c" providerId="ADAL" clId="{6A6AB0BD-1F2C-4B1F-81A3-B0154943E7BF}" dt="2026-08-20T16:43:17.342" v="484" actId="20577"/>
          <ac:spMkLst>
            <pc:docMk/>
            <pc:sldMk cId="1046650619" sldId="258"/>
            <ac:spMk id="3" creationId="{7A5818BD-CCBE-A9A0-8F1E-89057AB25B72}"/>
          </ac:spMkLst>
        </pc:spChg>
        <pc:graphicFrameChg chg="mod modGraphic">
          <ac:chgData name="Eugene Yankovsky" userId="20f81b14-299c-4897-9fa1-243a9635961c" providerId="ADAL" clId="{6A6AB0BD-1F2C-4B1F-81A3-B0154943E7BF}" dt="2026-08-19T16:19:56.961" v="444" actId="20577"/>
          <ac:graphicFrameMkLst>
            <pc:docMk/>
            <pc:sldMk cId="1046650619" sldId="258"/>
            <ac:graphicFrameMk id="4" creationId="{730FB319-5D38-3AF0-6914-A46A525B9128}"/>
          </ac:graphicFrameMkLst>
        </pc:graphicFrameChg>
        <pc:graphicFrameChg chg="add del mod modGraphic">
          <ac:chgData name="Eugene Yankovsky" userId="20f81b14-299c-4897-9fa1-243a9635961c" providerId="ADAL" clId="{6A6AB0BD-1F2C-4B1F-81A3-B0154943E7BF}" dt="2026-08-19T16:10:06.597" v="22" actId="478"/>
          <ac:graphicFrameMkLst>
            <pc:docMk/>
            <pc:sldMk cId="1046650619" sldId="258"/>
            <ac:graphicFrameMk id="5" creationId="{ACF66C97-5840-F415-F79D-71BEAA2B74D5}"/>
          </ac:graphicFrameMkLst>
        </pc:graphicFrameChg>
        <pc:graphicFrameChg chg="add mod">
          <ac:chgData name="Eugene Yankovsky" userId="20f81b14-299c-4897-9fa1-243a9635961c" providerId="ADAL" clId="{6A6AB0BD-1F2C-4B1F-81A3-B0154943E7BF}" dt="2026-08-19T16:14:51.837" v="382"/>
          <ac:graphicFrameMkLst>
            <pc:docMk/>
            <pc:sldMk cId="1046650619" sldId="258"/>
            <ac:graphicFrameMk id="6" creationId="{EBC962B7-9A3C-6A1D-6726-CF4BD2DDFD85}"/>
          </ac:graphicFrameMkLst>
        </pc:graphicFrameChg>
        <pc:graphicFrameChg chg="add mod">
          <ac:chgData name="Eugene Yankovsky" userId="20f81b14-299c-4897-9fa1-243a9635961c" providerId="ADAL" clId="{6A6AB0BD-1F2C-4B1F-81A3-B0154943E7BF}" dt="2026-08-19T16:17:03.979" v="400"/>
          <ac:graphicFrameMkLst>
            <pc:docMk/>
            <pc:sldMk cId="1046650619" sldId="258"/>
            <ac:graphicFrameMk id="7" creationId="{4490361A-96BB-E336-EC83-E3B5A86659F4}"/>
          </ac:graphicFrameMkLst>
        </pc:graphicFrameChg>
      </pc:sldChg>
      <pc:sldChg chg="modSp mod">
        <pc:chgData name="Eugene Yankovsky" userId="20f81b14-299c-4897-9fa1-243a9635961c" providerId="ADAL" clId="{6A6AB0BD-1F2C-4B1F-81A3-B0154943E7BF}" dt="2026-08-20T16:44:39.289" v="495" actId="20577"/>
        <pc:sldMkLst>
          <pc:docMk/>
          <pc:sldMk cId="529520514" sldId="265"/>
        </pc:sldMkLst>
        <pc:spChg chg="mod">
          <ac:chgData name="Eugene Yankovsky" userId="20f81b14-299c-4897-9fa1-243a9635961c" providerId="ADAL" clId="{6A6AB0BD-1F2C-4B1F-81A3-B0154943E7BF}" dt="2026-08-20T16:09:13.796" v="473" actId="20577"/>
          <ac:spMkLst>
            <pc:docMk/>
            <pc:sldMk cId="529520514" sldId="265"/>
            <ac:spMk id="4" creationId="{6F42CB4E-1FC7-52BE-2428-C869D4AEE92B}"/>
          </ac:spMkLst>
        </pc:spChg>
        <pc:spChg chg="mod">
          <ac:chgData name="Eugene Yankovsky" userId="20f81b14-299c-4897-9fa1-243a9635961c" providerId="ADAL" clId="{6A6AB0BD-1F2C-4B1F-81A3-B0154943E7BF}" dt="2026-08-20T16:44:39.289" v="495" actId="20577"/>
          <ac:spMkLst>
            <pc:docMk/>
            <pc:sldMk cId="529520514" sldId="265"/>
            <ac:spMk id="6" creationId="{AD0C2A88-4D70-0738-002C-A448A61D43FF}"/>
          </ac:spMkLst>
        </pc:spChg>
      </pc:sldChg>
      <pc:sldChg chg="addSp modSp mod">
        <pc:chgData name="Eugene Yankovsky" userId="20f81b14-299c-4897-9fa1-243a9635961c" providerId="ADAL" clId="{6A6AB0BD-1F2C-4B1F-81A3-B0154943E7BF}" dt="2026-08-19T16:23:30.048" v="471" actId="1076"/>
        <pc:sldMkLst>
          <pc:docMk/>
          <pc:sldMk cId="2975321241" sldId="273"/>
        </pc:sldMkLst>
        <pc:spChg chg="mod">
          <ac:chgData name="Eugene Yankovsky" userId="20f81b14-299c-4897-9fa1-243a9635961c" providerId="ADAL" clId="{6A6AB0BD-1F2C-4B1F-81A3-B0154943E7BF}" dt="2026-08-19T16:21:24.212" v="449" actId="14100"/>
          <ac:spMkLst>
            <pc:docMk/>
            <pc:sldMk cId="2975321241" sldId="273"/>
            <ac:spMk id="3" creationId="{5F42FBDA-BA53-8CE7-62E5-501845F44F50}"/>
          </ac:spMkLst>
        </pc:spChg>
        <pc:spChg chg="mod">
          <ac:chgData name="Eugene Yankovsky" userId="20f81b14-299c-4897-9fa1-243a9635961c" providerId="ADAL" clId="{6A6AB0BD-1F2C-4B1F-81A3-B0154943E7BF}" dt="2026-08-19T16:21:54.103" v="455" actId="1076"/>
          <ac:spMkLst>
            <pc:docMk/>
            <pc:sldMk cId="2975321241" sldId="273"/>
            <ac:spMk id="5" creationId="{58F7A2A6-A649-12A9-7082-BFAA022DA65E}"/>
          </ac:spMkLst>
        </pc:spChg>
        <pc:spChg chg="add mod">
          <ac:chgData name="Eugene Yankovsky" userId="20f81b14-299c-4897-9fa1-243a9635961c" providerId="ADAL" clId="{6A6AB0BD-1F2C-4B1F-81A3-B0154943E7BF}" dt="2026-08-19T16:23:30.048" v="471" actId="1076"/>
          <ac:spMkLst>
            <pc:docMk/>
            <pc:sldMk cId="2975321241" sldId="273"/>
            <ac:spMk id="8" creationId="{23BADB44-19C3-B45F-9430-F74338B9C644}"/>
          </ac:spMkLst>
        </pc:spChg>
        <pc:picChg chg="mod">
          <ac:chgData name="Eugene Yankovsky" userId="20f81b14-299c-4897-9fa1-243a9635961c" providerId="ADAL" clId="{6A6AB0BD-1F2C-4B1F-81A3-B0154943E7BF}" dt="2026-08-19T16:21:26.044" v="450" actId="1076"/>
          <ac:picMkLst>
            <pc:docMk/>
            <pc:sldMk cId="2975321241" sldId="273"/>
            <ac:picMk id="4" creationId="{6A2BCB05-AC8A-BF6E-5FAC-66CAE13F484B}"/>
          </ac:picMkLst>
        </pc:picChg>
        <pc:picChg chg="add mod">
          <ac:chgData name="Eugene Yankovsky" userId="20f81b14-299c-4897-9fa1-243a9635961c" providerId="ADAL" clId="{6A6AB0BD-1F2C-4B1F-81A3-B0154943E7BF}" dt="2026-08-19T16:21:29.973" v="451" actId="1076"/>
          <ac:picMkLst>
            <pc:docMk/>
            <pc:sldMk cId="2975321241" sldId="273"/>
            <ac:picMk id="7" creationId="{7754FAD1-180C-8348-4908-84642DBE7E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4B81C-D8B9-D34F-8AC2-CB8AF6B2193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5FAB1-CC82-9645-9E8F-0D602EBB3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8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Slide1:</a:t>
            </a:r>
          </a:p>
          <a:p>
            <a:pPr rtl="0"/>
            <a:r>
              <a:rPr lang="en-US" b="1" dirty="0"/>
              <a:t>SAY(Ian):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"Hi, I'm Ian, I’m a rising 8th grader at Ellen Fletcher Middle School. My dad, Eugene, and I did this project to predict how much the ocean can rise for the different future scenarios."</a:t>
            </a:r>
          </a:p>
          <a:p>
            <a:pPr rtl="0"/>
            <a:endParaRPr lang="en-US" b="1" dirty="0"/>
          </a:p>
          <a:p>
            <a:pPr rtl="0"/>
            <a:r>
              <a:rPr lang="en-US" b="1" dirty="0"/>
              <a:t>Tip:</a:t>
            </a:r>
            <a:r>
              <a:rPr lang="en-US" dirty="0"/>
              <a:t> Smile, look up at the room (not the slide) for this line — it's your hook.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FAB1-CC82-9645-9E8F-0D602EBB32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67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Ian:</a:t>
            </a:r>
            <a:endParaRPr lang="en-US" dirty="0"/>
          </a:p>
          <a:p>
            <a:pPr rtl="0"/>
            <a:r>
              <a:rPr lang="en-US" dirty="0"/>
              <a:t>"Here's our plan. </a:t>
            </a:r>
          </a:p>
          <a:p>
            <a:pPr rtl="0"/>
            <a:r>
              <a:rPr lang="en-US" dirty="0"/>
              <a:t>First, why sea level even matters. </a:t>
            </a:r>
          </a:p>
          <a:p>
            <a:pPr rtl="0"/>
            <a:r>
              <a:rPr lang="en-US" dirty="0"/>
              <a:t>Then, our three-step model: </a:t>
            </a:r>
          </a:p>
          <a:p>
            <a:pPr rtl="0"/>
            <a:r>
              <a:rPr lang="en-US" dirty="0"/>
              <a:t>CO2 affects to temperature, temperature affects to sea level. </a:t>
            </a:r>
          </a:p>
          <a:p>
            <a:pPr rtl="0"/>
            <a:r>
              <a:rPr lang="en-US" dirty="0"/>
              <a:t>Then, we made predictions of the sea level for three different future scenarios. </a:t>
            </a:r>
          </a:p>
          <a:p>
            <a:pPr rtl="0"/>
            <a:r>
              <a:rPr lang="en-US" dirty="0"/>
              <a:t>And to wrap up, what we found."</a:t>
            </a:r>
          </a:p>
          <a:p>
            <a:pPr rtl="0"/>
            <a:endParaRPr lang="en-US" b="1" dirty="0"/>
          </a:p>
          <a:p>
            <a:pPr rtl="0"/>
            <a:r>
              <a:rPr lang="en-US" b="1" dirty="0"/>
              <a:t>Tip:</a:t>
            </a:r>
            <a:r>
              <a:rPr lang="en-US" dirty="0"/>
              <a:t> Point at the slide as you say each of the four bullets — it keeps you paced correctly instead of rushing.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FAB1-CC82-9645-9E8F-0D602EBB32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91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Ian:</a:t>
            </a:r>
            <a:endParaRPr lang="en-US" dirty="0"/>
          </a:p>
          <a:p>
            <a:pPr rtl="0"/>
            <a:r>
              <a:rPr lang="en-US" dirty="0"/>
              <a:t>"Think of this like three dominoes lined up. </a:t>
            </a:r>
          </a:p>
          <a:p>
            <a:pPr rtl="0"/>
            <a:r>
              <a:rPr lang="en-US" dirty="0"/>
              <a:t>The first domino is carbon dioxide in the air. </a:t>
            </a:r>
          </a:p>
          <a:p>
            <a:pPr rtl="0"/>
            <a:r>
              <a:rPr lang="en-US" dirty="0"/>
              <a:t>The second domino is temperature — more CO2 tips over temperature and makes it warmer. </a:t>
            </a:r>
          </a:p>
          <a:p>
            <a:pPr rtl="0"/>
            <a:r>
              <a:rPr lang="en-US" dirty="0"/>
              <a:t>The third domino is sea level — a warmer world tips over the ocean and makes it rise, because warm water takes up more space, and warm temperatures melt ice.</a:t>
            </a:r>
          </a:p>
          <a:p>
            <a:pPr rtl="0"/>
            <a:r>
              <a:rPr lang="en-US" dirty="0"/>
              <a:t>To predict each domino, we trained predictive models on monthly historic data to learn the pattern and predict the future values."</a:t>
            </a:r>
          </a:p>
          <a:p>
            <a:pPr rtl="0"/>
            <a:endParaRPr lang="en-US" b="1" dirty="0"/>
          </a:p>
          <a:p>
            <a:pPr rtl="0"/>
            <a:r>
              <a:rPr lang="en-US" dirty="0"/>
              <a:t>Statistically, each stage is a SARIMA time-series model — it's a method that looks at trends, seasonal cycles, and past values to forecast the future. </a:t>
            </a:r>
          </a:p>
          <a:p>
            <a:pPr rtl="0"/>
            <a:r>
              <a:rPr lang="en-US" dirty="0"/>
              <a:t>Stage 2 and 3 also feed in the previous stage's forecast, so the three models connect like a chain.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We have applied log transformations to minimize deviations of normality in the source data.”</a:t>
            </a:r>
          </a:p>
          <a:p>
            <a:pPr rtl="0"/>
            <a:endParaRPr lang="en-US" b="1" dirty="0"/>
          </a:p>
          <a:p>
            <a:pPr rtl="0"/>
            <a:r>
              <a:rPr lang="en-US" b="1" dirty="0"/>
              <a:t>Tip:</a:t>
            </a:r>
            <a:r>
              <a:rPr lang="en-US" dirty="0"/>
              <a:t> This is the slide people could get lost on — slow down here more than anywhere else. The domino image does the heavy lifting; don't over-explain the acronym.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FAB1-CC82-9645-9E8F-0D602EBB32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00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Ian:</a:t>
            </a:r>
            <a:endParaRPr lang="en-US" dirty="0"/>
          </a:p>
          <a:p>
            <a:pPr rtl="0"/>
            <a:r>
              <a:rPr lang="en-US" dirty="0"/>
              <a:t>We tested three possible future scenarios.</a:t>
            </a:r>
          </a:p>
          <a:p>
            <a:pPr rtl="0"/>
            <a:r>
              <a:rPr lang="en-US" dirty="0"/>
              <a:t>Baseline: the world keeps polluting the way it has been. </a:t>
            </a:r>
          </a:p>
          <a:p>
            <a:pPr rtl="0"/>
            <a:r>
              <a:rPr lang="en-US" dirty="0"/>
              <a:t>Best-case: countries cut CO2 the way they promised in the Kyoto Protocol. </a:t>
            </a:r>
          </a:p>
          <a:p>
            <a:pPr rtl="0"/>
            <a:r>
              <a:rPr lang="en-US" dirty="0"/>
              <a:t>Worst-case: countries pollute even more than they do now, instead of less."</a:t>
            </a:r>
          </a:p>
          <a:p>
            <a:pPr rtl="0"/>
            <a:endParaRPr lang="en-US" b="1" dirty="0"/>
          </a:p>
          <a:p>
            <a:pPr rtl="0"/>
            <a:r>
              <a:rPr lang="en-US" b="1" dirty="0"/>
              <a:t>Tip:</a:t>
            </a:r>
            <a:r>
              <a:rPr lang="en-US" dirty="0"/>
              <a:t> Use three fingers, one per scenario, as a quick visual counting gesture.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FAB1-CC82-9645-9E8F-0D602EBB32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23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Show:</a:t>
            </a:r>
            <a:r>
              <a:rPr lang="en-US" dirty="0"/>
              <a:t> CO2 chart</a:t>
            </a:r>
          </a:p>
          <a:p>
            <a:pPr rtl="0"/>
            <a:r>
              <a:rPr lang="en-US" b="1" dirty="0"/>
              <a:t>SAY:</a:t>
            </a:r>
            <a:endParaRPr lang="en-US" dirty="0"/>
          </a:p>
          <a:p>
            <a:pPr rtl="0"/>
            <a:r>
              <a:rPr lang="en-US" dirty="0"/>
              <a:t>"First we predicted future CO2 levels. </a:t>
            </a:r>
          </a:p>
          <a:p>
            <a:pPr rtl="0"/>
            <a:r>
              <a:rPr lang="en-US" dirty="0"/>
              <a:t>Our model found a strong, steady upward pattern, plus a repeating wiggle every year — that's the seasons, since plants absorb more CO2 in summer than in winter. </a:t>
            </a:r>
          </a:p>
          <a:p>
            <a:pPr rtl="0"/>
            <a:r>
              <a:rPr lang="en-US" dirty="0"/>
              <a:t>Both patterns were very statistically strong, which gave us a solid foundation for the next step."</a:t>
            </a:r>
          </a:p>
          <a:p>
            <a:pPr rtl="0"/>
            <a:endParaRPr lang="en-US" b="1" dirty="0"/>
          </a:p>
          <a:p>
            <a:pPr rtl="0"/>
            <a:r>
              <a:rPr lang="en-US" b="1" dirty="0"/>
              <a:t>Tip:</a:t>
            </a:r>
            <a:r>
              <a:rPr lang="en-US" dirty="0"/>
              <a:t> Point to the wiggle on the chart when you say "repeating wiggle every year" — it's a nice concrete detail that shows you understand your own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FAB1-CC82-9645-9E8F-0D602EBB32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16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Show:</a:t>
            </a:r>
            <a:r>
              <a:rPr lang="en-US" dirty="0"/>
              <a:t> Temperature chart</a:t>
            </a:r>
          </a:p>
          <a:p>
            <a:pPr rtl="0"/>
            <a:r>
              <a:rPr lang="en-US" b="1" dirty="0"/>
              <a:t>SAY:</a:t>
            </a:r>
            <a:endParaRPr lang="en-US" dirty="0"/>
          </a:p>
          <a:p>
            <a:pPr rtl="0"/>
            <a:r>
              <a:rPr lang="en-US" dirty="0"/>
              <a:t>"Next, we fed our CO2 predictions into a temperature model. </a:t>
            </a:r>
          </a:p>
          <a:p>
            <a:pPr rtl="0"/>
            <a:r>
              <a:rPr lang="en-US" dirty="0"/>
              <a:t>The direction was what we expected — more CO2 predicted higher temperatures — but in our data that particular link wasn't strong enough to call statistically certain. </a:t>
            </a:r>
          </a:p>
          <a:p>
            <a:pPr rtl="0"/>
            <a:r>
              <a:rPr lang="en-US" dirty="0"/>
              <a:t>Temperature turned out to mostly follow its own recent pattern."</a:t>
            </a:r>
          </a:p>
          <a:p>
            <a:pPr rtl="0"/>
            <a:endParaRPr lang="en-US" b="1" dirty="0"/>
          </a:p>
          <a:p>
            <a:pPr rtl="0"/>
            <a:r>
              <a:rPr lang="en-US" b="1" dirty="0"/>
              <a:t>Tip:</a:t>
            </a:r>
            <a:r>
              <a:rPr lang="en-US" dirty="0"/>
              <a:t> It's okay to say "wasn't strong enough to be certain" plainly and move on — being upfront about a weak result reads as honest, not as a mistake.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FAB1-CC82-9645-9E8F-0D602EBB32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6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Show:</a:t>
            </a:r>
            <a:r>
              <a:rPr lang="en-US" dirty="0"/>
              <a:t> Sea level chart</a:t>
            </a:r>
          </a:p>
          <a:p>
            <a:pPr rtl="0"/>
            <a:r>
              <a:rPr lang="en-US" b="1" dirty="0"/>
              <a:t>SAY:</a:t>
            </a:r>
            <a:endParaRPr lang="en-US" dirty="0"/>
          </a:p>
          <a:p>
            <a:pPr rtl="0"/>
            <a:r>
              <a:rPr lang="en-US" dirty="0"/>
              <a:t>"Finally, we used our temperature predictions to forecast sea level. </a:t>
            </a:r>
          </a:p>
          <a:p>
            <a:pPr rtl="0"/>
            <a:r>
              <a:rPr lang="en-US" dirty="0"/>
              <a:t>The headline finding: sea level keeps rising in all three futures — even the best-case one. </a:t>
            </a:r>
          </a:p>
          <a:p>
            <a:pPr rtl="0"/>
            <a:r>
              <a:rPr lang="en-US" dirty="0"/>
              <a:t>Cutting emissions does slow the rise down, and polluting more does speed it up, but here's the surprising part — over the next 50 years, the difference between best-case and worst-case is actually pretty small.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Why? Because the ocean is enormous — it's like trying to turn a giant cruise ship. Even a big push takes decades to show up.</a:t>
            </a:r>
          </a:p>
          <a:p>
            <a:pPr rtl="0"/>
            <a:endParaRPr lang="en-US" dirty="0"/>
          </a:p>
          <a:p>
            <a:pPr rtl="0"/>
            <a:r>
              <a:rPr lang="en-US" b="1" dirty="0"/>
              <a:t>But small doesn't mean unimportant — even a little extra sea-level rise can flood coastal towns, erode beaches, and push saltwater into places it doesn't belong."</a:t>
            </a:r>
          </a:p>
          <a:p>
            <a:pPr rtl="0"/>
            <a:endParaRPr lang="en-US" b="1" dirty="0"/>
          </a:p>
          <a:p>
            <a:pPr rtl="0"/>
            <a:r>
              <a:rPr lang="en-US" b="1" dirty="0"/>
              <a:t>Tip:</a:t>
            </a:r>
            <a:r>
              <a:rPr lang="en-US" dirty="0"/>
              <a:t> This is your "so what" moment — the whole talk builds to this slide. Say it a little slower and make eye contact on "small doesn't mean unimportant."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5FAB1-CC82-9645-9E8F-0D602EBB32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27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4442-3FD7-EFCC-89C6-98CC31F0D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0EA3E-6347-669C-600B-3EC84FFC1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D922A-9320-C35D-46D1-D5161F8D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59CF-685A-36ED-4CAC-83664CDB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95D44-11A3-D9E1-7178-5EE3E4E6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9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8F1E-3212-F372-1B5D-2259898F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37EB-D794-27ED-89E2-D5202072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2D17D-A54B-9CA8-179F-610618CE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AB4F7-8D65-984B-BE1D-2FB325CB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D31E-5CE6-7DD4-E405-3823C9FE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7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8C8D-D4BC-FA98-46FD-3392ECD6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574E6-0C30-7690-5105-23D666D14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DACC1-67BA-8BAB-FFC2-7C4482D8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C41B-0B38-249C-166A-C209BE2A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C5D5B-8DAA-4DC8-81CB-58A48361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CAF3-D21E-DB84-9638-AB364E32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58986-E9F6-611E-EA44-D21A140F6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10C0C-5A8B-1F53-EF54-200B12AF1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86F29-4F7A-B835-0EC4-370EDA88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DCCFC-7D4D-E0F1-474B-D1C0D716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BA53E-B581-0BAF-FDB0-D11ED77A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0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5AB5-C113-2B08-C091-D3263335D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8EF37-DE45-790F-C187-1E2E180D9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40700-AC19-D2E0-C6B5-B93DFFF8E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09A5D-A910-4058-7B4D-9C2F9FEC8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832DE-2B4D-5389-C2CD-AC838EB5F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7A9622-6101-F93C-855C-B996A4EB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CF44A5-3608-5D53-7358-785EE1BE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C84B61-AADA-5218-74EE-20AED89D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5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9FB7E-8624-032E-9CE1-0E2219B1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D8DFB-C328-F93C-BC5C-EC86F37C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B2668-7574-6755-E15B-99C627B2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5FCCC-0780-7C61-FDEB-F58F3831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86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32A1A4-6D3D-271F-28B5-0D0DB9BF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D02B7-58C5-CB3B-B676-D07D542E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CB3EF-E9B5-7E95-8948-AEB759EB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F215-C7ED-2B30-4170-2756AE5D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6BB6-5F57-88CA-EA02-A0DF5BD30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0EDF3-7763-BFCC-8F46-0A7A48C7D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01EEE-FBB2-4733-BB50-1B295355C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60AA7-D16F-58A3-3C7F-78F55893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73CEC-CEE2-3A0A-4342-7FB4FB42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2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B573-91BB-C506-4B99-362A52CEB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B7EF40-3FE4-CD83-E6E6-3263172C0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67717-ECDA-A37B-2A43-57C077B94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D484C-BAD1-8F62-5B7F-C64E1550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16C87-94E6-8C04-DF63-5902D76DE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D5CB2-974E-01E0-4E2E-89227162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6818-BE78-8686-C6A9-716D3D5C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6E3EE-0BF5-C4A6-8902-0E1CDAEF8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114FD-4619-DACD-5BAA-76FBAC8C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3B962-F17C-E4DE-DD0E-F188B47E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35012-C9CD-6D59-AD98-06415F10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7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A3B21C-FDD9-15B2-AF19-D1D5D2C64F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38A68-A1A0-7833-DFA9-FA36129FD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56849-8824-8E25-9F4C-6B863AE7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6597D-F13D-120C-2DE2-047DEC10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45AE4-5518-5E99-F9D7-1283B584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5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1C1C0-E2C5-C51A-08F9-29C98367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9864F-B572-6D5E-4684-CA47FB74E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60DBA-8970-95CB-3D33-F7DA63859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22550-3123-6E4C-81A8-CA37A863E81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54D83-6664-A6A5-B91B-5E2AC8B36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864B-BD92-3B33-010C-DB698EC04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038E-A32A-5D49-95CB-696ABCB07AC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D65EF-B0EA-9557-14CB-C2A1185222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468100" y="6642100"/>
            <a:ext cx="6858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**Internal**</a:t>
            </a:r>
          </a:p>
        </p:txBody>
      </p:sp>
    </p:spTree>
    <p:extLst>
      <p:ext uri="{BB962C8B-B14F-4D97-AF65-F5344CB8AC3E}">
        <p14:creationId xmlns:p14="http://schemas.microsoft.com/office/powerpoint/2010/main" val="43741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safety/go/?url=https%3A%2F%2Fbbc%2Ecom%2Fnews%2Farticles%2Fcpvw8vmmgrwo&amp;urlhash=VEdZ&amp;mt=rJaVeqVz8TpRa_5o590_HfQ8Y7bLfqzmpR3M0DtuNV5IWo2SJUDNovjjC8NE6QW7cOdcWuE1BEj4_Wbh_EDcC0JAB9oALl5yygJD5MsTv8yLCaUSxC7riMdzskf5FQYln27-m7_Tc2A7kjFb2yDQKUuuY6-mt6Dl&amp;isSdui=tru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conomist.com/science-and-technology/2026/06/16/the-coming-el-nino-could-be-the-strongest-ever-recorded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grapher/co2-long-term-concentration" TargetMode="External"/><Relationship Id="rId2" Type="http://schemas.openxmlformats.org/officeDocument/2006/relationships/hyperlink" Target="https://otexts.com/fpp3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58F7-43AB-811B-F527-DF86FB94F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771" y="1122363"/>
            <a:ext cx="11136086" cy="2387600"/>
          </a:xfrm>
        </p:spPr>
        <p:txBody>
          <a:bodyPr>
            <a:normAutofit/>
          </a:bodyPr>
          <a:lstStyle/>
          <a:p>
            <a:r>
              <a:rPr lang="en-US" sz="4800" b="1" dirty="0"/>
              <a:t>Statistical Stress Testing of Changes in</a:t>
            </a:r>
            <a:br>
              <a:rPr lang="en-US" sz="4800" b="1" dirty="0"/>
            </a:br>
            <a:r>
              <a:rPr lang="en-US" sz="4800" b="1" dirty="0"/>
              <a:t>the Global Sea Level</a:t>
            </a:r>
            <a:br>
              <a:rPr lang="en-US" sz="4800" b="1" dirty="0"/>
            </a:br>
            <a:r>
              <a:rPr lang="en-US" sz="4800" b="1" dirty="0"/>
              <a:t>Under Alternative Climate Scenarios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F4D2F-399E-B95A-5157-4E982FDA4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829" y="3602037"/>
            <a:ext cx="10482941" cy="2133600"/>
          </a:xfrm>
        </p:spPr>
        <p:txBody>
          <a:bodyPr>
            <a:normAutofit/>
          </a:bodyPr>
          <a:lstStyle/>
          <a:p>
            <a:r>
              <a:rPr lang="en-US" dirty="0"/>
              <a:t>Eugene Yankovsky, Ian Yankovsky</a:t>
            </a:r>
          </a:p>
          <a:p>
            <a:r>
              <a:rPr lang="en-US" dirty="0"/>
              <a:t>Joint Statistical Meetings (JSM)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98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DEA2-7CB3-FCE7-35D8-294F17A9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78086-868A-8FD6-8FD4-4ED54EA74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564368"/>
            <a:ext cx="10515600" cy="4351338"/>
          </a:xfrm>
        </p:spPr>
        <p:txBody>
          <a:bodyPr>
            <a:normAutofit lnSpcReduction="10000"/>
          </a:bodyPr>
          <a:lstStyle/>
          <a:p>
            <a:pPr marL="514350" lvl="0" indent="-514350">
              <a:lnSpc>
                <a:spcPct val="170000"/>
              </a:lnSpc>
              <a:buFont typeface="+mj-lt"/>
              <a:buAutoNum type="arabicPeriod"/>
            </a:pPr>
            <a:r>
              <a:rPr lang="en-US" sz="3000" b="1" dirty="0"/>
              <a:t>Motivation &amp; Research Objective</a:t>
            </a:r>
            <a:endParaRPr lang="en-US" sz="3000" dirty="0"/>
          </a:p>
          <a:p>
            <a:pPr marL="0" lvl="0" indent="0">
              <a:lnSpc>
                <a:spcPct val="170000"/>
              </a:lnSpc>
              <a:buNone/>
            </a:pPr>
            <a:r>
              <a:rPr lang="en-US" sz="3000" b="1" dirty="0"/>
              <a:t>2. Three-Stage Model Framework: </a:t>
            </a:r>
          </a:p>
          <a:p>
            <a:pPr marL="0" lvl="0" indent="0">
              <a:lnSpc>
                <a:spcPct val="170000"/>
              </a:lnSpc>
              <a:buNone/>
            </a:pPr>
            <a:r>
              <a:rPr lang="en-US" sz="3000" b="1" dirty="0"/>
              <a:t>	Atmospheric CO₂→ Global Temperature → Global Sea Level</a:t>
            </a:r>
          </a:p>
          <a:p>
            <a:pPr marL="0" lvl="0" indent="0">
              <a:lnSpc>
                <a:spcPct val="170000"/>
              </a:lnSpc>
              <a:buNone/>
            </a:pPr>
            <a:r>
              <a:rPr lang="en-US" sz="3000" b="1" dirty="0"/>
              <a:t>3. Climate Scenarios</a:t>
            </a:r>
            <a:endParaRPr lang="en-US" sz="3000" dirty="0"/>
          </a:p>
          <a:p>
            <a:pPr marL="0" lvl="0" indent="0">
              <a:lnSpc>
                <a:spcPct val="170000"/>
              </a:lnSpc>
              <a:buNone/>
            </a:pPr>
            <a:r>
              <a:rPr lang="en-US" sz="3000" b="1" dirty="0"/>
              <a:t>4. Results</a:t>
            </a:r>
            <a:endParaRPr lang="en-US" sz="3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78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8EF8-2B97-21E2-6F55-5C8AC581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Three-Stage Model Framework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30FB319-5D38-3AF0-6914-A46A525B912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38332391"/>
                  </p:ext>
                </p:extLst>
              </p:nvPr>
            </p:nvGraphicFramePr>
            <p:xfrm>
              <a:off x="130630" y="1611085"/>
              <a:ext cx="11824304" cy="38660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57508">
                      <a:extLst>
                        <a:ext uri="{9D8B030D-6E8A-4147-A177-3AD203B41FA5}">
                          <a16:colId xmlns:a16="http://schemas.microsoft.com/office/drawing/2014/main" val="731126330"/>
                        </a:ext>
                      </a:extLst>
                    </a:gridCol>
                    <a:gridCol w="2560838">
                      <a:extLst>
                        <a:ext uri="{9D8B030D-6E8A-4147-A177-3AD203B41FA5}">
                          <a16:colId xmlns:a16="http://schemas.microsoft.com/office/drawing/2014/main" val="85907522"/>
                        </a:ext>
                      </a:extLst>
                    </a:gridCol>
                    <a:gridCol w="2669688">
                      <a:extLst>
                        <a:ext uri="{9D8B030D-6E8A-4147-A177-3AD203B41FA5}">
                          <a16:colId xmlns:a16="http://schemas.microsoft.com/office/drawing/2014/main" val="339975408"/>
                        </a:ext>
                      </a:extLst>
                    </a:gridCol>
                    <a:gridCol w="2052508">
                      <a:extLst>
                        <a:ext uri="{9D8B030D-6E8A-4147-A177-3AD203B41FA5}">
                          <a16:colId xmlns:a16="http://schemas.microsoft.com/office/drawing/2014/main" val="2014430825"/>
                        </a:ext>
                      </a:extLst>
                    </a:gridCol>
                    <a:gridCol w="2883762">
                      <a:extLst>
                        <a:ext uri="{9D8B030D-6E8A-4147-A177-3AD203B41FA5}">
                          <a16:colId xmlns:a16="http://schemas.microsoft.com/office/drawing/2014/main" val="1825739053"/>
                        </a:ext>
                      </a:extLst>
                    </a:gridCol>
                  </a:tblGrid>
                  <a:tr h="66568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Stage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63500" marB="635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Hypothesis</a:t>
                          </a:r>
                        </a:p>
                      </a:txBody>
                      <a:tcPr marL="88900" marR="88900" marT="63500" marB="635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Model Specification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63500" marB="635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Dependent Var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63500" marB="635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Exogenous Predictor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63500" marB="63500" anchor="ctr"/>
                    </a:tc>
                    <a:extLst>
                      <a:ext uri="{0D108BD9-81ED-4DB2-BD59-A6C34878D82A}">
                        <a16:rowId xmlns:a16="http://schemas.microsoft.com/office/drawing/2014/main" val="2354418973"/>
                      </a:ext>
                    </a:extLst>
                  </a:tr>
                  <a:tr h="9682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Stage 1: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CO₂ Forecasting**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  <a:latin typeface="+mn-lt"/>
                              <a:ea typeface="Arial" panose="020B0604020202020204" pitchFamily="34" charset="0"/>
                            </a:rPr>
                            <a:t>Own trend and seasonality predict </a:t>
                          </a:r>
                          <a:r>
                            <a:rPr lang="en-US" sz="1900" dirty="0">
                              <a:effectLst/>
                              <a:latin typeface="+mn-lt"/>
                            </a:rPr>
                            <a:t>CO₂ path</a:t>
                          </a:r>
                          <a:endParaRPr lang="en-US" sz="1900" dirty="0">
                            <a:effectLst/>
                            <a:latin typeface="+mn-lt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SARIMA</a:t>
                          </a:r>
                          <a:endParaRPr lang="en-US" sz="19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CO₂(t)</a:t>
                          </a: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None (univariate)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533233395"/>
                      </a:ext>
                    </a:extLst>
                  </a:tr>
                  <a:tr h="9682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Stage 2: Temperature Forecasting**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  <a:latin typeface="+mn-lt"/>
                            </a:rPr>
                            <a:t>Temperature is associated with CO₂ and own seasonal pattern</a:t>
                          </a:r>
                          <a:endParaRPr lang="en-US" sz="1900" dirty="0">
                            <a:effectLst/>
                            <a:latin typeface="+mn-lt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SARIMA 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900" i="0" kern="1200" dirty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CO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900" i="0" kern="1200" dirty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₂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0" dirty="0"/>
                            <a:t>*</a:t>
                          </a:r>
                          <a:r>
                            <a:rPr lang="en-US" sz="2000" b="1" dirty="0"/>
                            <a:t> </a:t>
                          </a:r>
                          <a:r>
                            <a:rPr lang="en-US" sz="2000" b="0" dirty="0"/>
                            <a:t>ln(</a:t>
                          </a:r>
                          <a:r>
                            <a:rPr lang="en-US" sz="1900" dirty="0">
                              <a:effectLst/>
                            </a:rPr>
                            <a:t>CO₂(t)- ln(CO₂(t-1))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ln(Temp (t))-ln(Temp (t-1))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Historic CO₂ for training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Forecasted CO₂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(from Stage 1)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897349373"/>
                      </a:ext>
                    </a:extLst>
                  </a:tr>
                  <a:tr h="9682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Stage 3: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Sea-Level Forecasting**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  <a:latin typeface="+mn-lt"/>
                              <a:ea typeface="Arial" panose="020B0604020202020204" pitchFamily="34" charset="0"/>
                            </a:rPr>
                            <a:t>Sea Level </a:t>
                          </a:r>
                          <a:r>
                            <a:rPr lang="en-US" sz="1900" dirty="0">
                              <a:effectLst/>
                              <a:latin typeface="+mn-lt"/>
                            </a:rPr>
                            <a:t>is associated with Temperature and own seasonal pattern</a:t>
                          </a:r>
                          <a:r>
                            <a:rPr lang="en-US" sz="1900" dirty="0">
                              <a:effectLst/>
                              <a:latin typeface="+mn-lt"/>
                              <a:ea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>
                              <a:effectLst/>
                            </a:rPr>
                            <a:t>SARIMA</a:t>
                          </a:r>
                          <a:r>
                            <a:rPr lang="en-US" sz="1800" b="0" dirty="0">
                              <a:effectLst/>
                            </a:rPr>
                            <a:t> </a:t>
                          </a:r>
                          <a:r>
                            <a:rPr lang="en-US" sz="1900" dirty="0">
                              <a:effectLst/>
                            </a:rPr>
                            <a:t>+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900" b="0" i="0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T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0" dirty="0"/>
                            <a:t>*</a:t>
                          </a:r>
                          <a:r>
                            <a:rPr lang="en-US" sz="2000" b="1" dirty="0"/>
                            <a:t> </a:t>
                          </a:r>
                          <a:r>
                            <a:rPr lang="en-US" sz="1900" dirty="0">
                              <a:effectLst/>
                            </a:rPr>
                            <a:t>ln(Temp(t)- ln(Temp(t-1))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>
                              <a:effectLst/>
                            </a:rPr>
                            <a:t>ln(Sea Level (t))-ln(Sea Level (t-1))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  <a:p>
                          <a:pPr>
                            <a:buNone/>
                          </a:pP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Historic Temperature for training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Forecasted Temperature (from Stage 2)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5141538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30FB319-5D38-3AF0-6914-A46A525B912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38332391"/>
                  </p:ext>
                </p:extLst>
              </p:nvPr>
            </p:nvGraphicFramePr>
            <p:xfrm>
              <a:off x="130630" y="1611085"/>
              <a:ext cx="11824304" cy="38660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57508">
                      <a:extLst>
                        <a:ext uri="{9D8B030D-6E8A-4147-A177-3AD203B41FA5}">
                          <a16:colId xmlns:a16="http://schemas.microsoft.com/office/drawing/2014/main" val="731126330"/>
                        </a:ext>
                      </a:extLst>
                    </a:gridCol>
                    <a:gridCol w="2560838">
                      <a:extLst>
                        <a:ext uri="{9D8B030D-6E8A-4147-A177-3AD203B41FA5}">
                          <a16:colId xmlns:a16="http://schemas.microsoft.com/office/drawing/2014/main" val="85907522"/>
                        </a:ext>
                      </a:extLst>
                    </a:gridCol>
                    <a:gridCol w="2669688">
                      <a:extLst>
                        <a:ext uri="{9D8B030D-6E8A-4147-A177-3AD203B41FA5}">
                          <a16:colId xmlns:a16="http://schemas.microsoft.com/office/drawing/2014/main" val="339975408"/>
                        </a:ext>
                      </a:extLst>
                    </a:gridCol>
                    <a:gridCol w="2052508">
                      <a:extLst>
                        <a:ext uri="{9D8B030D-6E8A-4147-A177-3AD203B41FA5}">
                          <a16:colId xmlns:a16="http://schemas.microsoft.com/office/drawing/2014/main" val="2014430825"/>
                        </a:ext>
                      </a:extLst>
                    </a:gridCol>
                    <a:gridCol w="2883762">
                      <a:extLst>
                        <a:ext uri="{9D8B030D-6E8A-4147-A177-3AD203B41FA5}">
                          <a16:colId xmlns:a16="http://schemas.microsoft.com/office/drawing/2014/main" val="1825739053"/>
                        </a:ext>
                      </a:extLst>
                    </a:gridCol>
                  </a:tblGrid>
                  <a:tr h="66568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Stage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63500" marB="635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  <a:latin typeface="Arial" panose="020B0604020202020204" pitchFamily="34" charset="0"/>
                              <a:ea typeface="Arial" panose="020B0604020202020204" pitchFamily="34" charset="0"/>
                            </a:rPr>
                            <a:t>Hypothesis</a:t>
                          </a:r>
                        </a:p>
                      </a:txBody>
                      <a:tcPr marL="88900" marR="88900" marT="63500" marB="635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Model Specification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63500" marB="635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Dependent Var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63500" marB="635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Exogenous Predictor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63500" marB="63500" anchor="ctr"/>
                    </a:tc>
                    <a:extLst>
                      <a:ext uri="{0D108BD9-81ED-4DB2-BD59-A6C34878D82A}">
                        <a16:rowId xmlns:a16="http://schemas.microsoft.com/office/drawing/2014/main" val="2354418973"/>
                      </a:ext>
                    </a:extLst>
                  </a:tr>
                  <a:tr h="970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Stage 1: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CO₂ Forecasting**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  <a:latin typeface="+mn-lt"/>
                              <a:ea typeface="Arial" panose="020B0604020202020204" pitchFamily="34" charset="0"/>
                            </a:rPr>
                            <a:t>Own trend and seasonality predict </a:t>
                          </a:r>
                          <a:r>
                            <a:rPr lang="en-US" sz="1900" dirty="0">
                              <a:effectLst/>
                              <a:latin typeface="+mn-lt"/>
                            </a:rPr>
                            <a:t>CO₂ path</a:t>
                          </a:r>
                          <a:endParaRPr lang="en-US" sz="1900" dirty="0">
                            <a:effectLst/>
                            <a:latin typeface="+mn-lt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SARIMA</a:t>
                          </a:r>
                          <a:endParaRPr lang="en-US" sz="19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CO₂(t)</a:t>
                          </a: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None (univariate)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533233395"/>
                      </a:ext>
                    </a:extLst>
                  </a:tr>
                  <a:tr h="970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Stage 2: Temperature Forecasting**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  <a:latin typeface="+mn-lt"/>
                            </a:rPr>
                            <a:t>Temperature is associated with CO₂ and own seasonal pattern</a:t>
                          </a:r>
                          <a:endParaRPr lang="en-US" sz="1900" dirty="0">
                            <a:effectLst/>
                            <a:latin typeface="+mn-lt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900" marR="88900" marT="50800" marB="50800" anchor="ctr">
                        <a:blipFill>
                          <a:blip r:embed="rId3"/>
                          <a:stretch>
                            <a:fillRect l="-157859" t="-169811" r="-185421" b="-140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ln(Temp (t))-ln(Temp (t-1))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Historic CO₂ for training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Forecasted CO₂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(from Stage 1)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897349373"/>
                      </a:ext>
                    </a:extLst>
                  </a:tr>
                  <a:tr h="1259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Stage 3: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Sea-Level Forecasting**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  <a:latin typeface="+mn-lt"/>
                              <a:ea typeface="Arial" panose="020B0604020202020204" pitchFamily="34" charset="0"/>
                            </a:rPr>
                            <a:t>Sea Level </a:t>
                          </a:r>
                          <a:r>
                            <a:rPr lang="en-US" sz="1900" dirty="0">
                              <a:effectLst/>
                              <a:latin typeface="+mn-lt"/>
                            </a:rPr>
                            <a:t>is associated with Temperature and own seasonal pattern</a:t>
                          </a:r>
                          <a:r>
                            <a:rPr lang="en-US" sz="1900" dirty="0">
                              <a:effectLst/>
                              <a:latin typeface="+mn-lt"/>
                              <a:ea typeface="Arial" panose="020B0604020202020204" pitchFamily="34" charset="0"/>
                            </a:rPr>
                            <a:t> </a:t>
                          </a: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900" marR="88900" marT="50800" marB="50800" anchor="ctr">
                        <a:blipFill>
                          <a:blip r:embed="rId3"/>
                          <a:stretch>
                            <a:fillRect l="-157859" t="-207246" r="-185421" b="-8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900" dirty="0">
                              <a:effectLst/>
                            </a:rPr>
                            <a:t>ln(Sea Level (t))-ln(Sea Level (t-1))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  <a:p>
                          <a:pPr>
                            <a:buNone/>
                          </a:pP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Historic Temperature for training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sz="1900" dirty="0">
                              <a:effectLst/>
                            </a:rPr>
                            <a:t>Forecasted Temperature (from Stage 2)</a:t>
                          </a:r>
                          <a:endParaRPr lang="en-US" sz="19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88900" marR="889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5141538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A5818BD-CCBE-A9A0-8F1E-89057AB25B72}"/>
              </a:ext>
            </a:extLst>
          </p:cNvPr>
          <p:cNvSpPr txBox="1"/>
          <p:nvPr/>
        </p:nvSpPr>
        <p:spPr>
          <a:xfrm>
            <a:off x="218485" y="5777713"/>
            <a:ext cx="11458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*Ln-transformation is applied to mitigate significant deviation from normality detected by Jarque-Bera test.</a:t>
            </a:r>
          </a:p>
          <a:p>
            <a:r>
              <a:rPr lang="en-US" dirty="0"/>
              <a:t>** Modeling is applied to the </a:t>
            </a:r>
            <a:r>
              <a:rPr lang="en-US" b="1" u="sng" dirty="0"/>
              <a:t>annual</a:t>
            </a:r>
            <a:r>
              <a:rPr lang="en-US" dirty="0"/>
              <a:t> data, since modeling using the </a:t>
            </a:r>
            <a:r>
              <a:rPr lang="en-US" b="1" u="sng" dirty="0"/>
              <a:t>monthly</a:t>
            </a:r>
            <a:r>
              <a:rPr lang="en-US" dirty="0"/>
              <a:t> data resulted in detecting negative relationship between Temperature and Sea Level that contradicts to established Thermodynamics principles.</a:t>
            </a:r>
          </a:p>
        </p:txBody>
      </p:sp>
    </p:spTree>
    <p:extLst>
      <p:ext uri="{BB962C8B-B14F-4D97-AF65-F5344CB8AC3E}">
        <p14:creationId xmlns:p14="http://schemas.microsoft.com/office/powerpoint/2010/main" val="104665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8A1C-589A-DEA7-CAB6-E337E44A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212725"/>
            <a:ext cx="10515600" cy="1325563"/>
          </a:xfrm>
        </p:spPr>
        <p:txBody>
          <a:bodyPr/>
          <a:lstStyle/>
          <a:p>
            <a:r>
              <a:rPr lang="en-US" b="1" dirty="0"/>
              <a:t>Scenarios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2F914C-CEBA-DA87-2F39-7F0CF2C25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827218"/>
              </p:ext>
            </p:extLst>
          </p:nvPr>
        </p:nvGraphicFramePr>
        <p:xfrm>
          <a:off x="321127" y="1415146"/>
          <a:ext cx="11696702" cy="31736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97118">
                  <a:extLst>
                    <a:ext uri="{9D8B030D-6E8A-4147-A177-3AD203B41FA5}">
                      <a16:colId xmlns:a16="http://schemas.microsoft.com/office/drawing/2014/main" val="634832610"/>
                    </a:ext>
                  </a:extLst>
                </a:gridCol>
                <a:gridCol w="8399584">
                  <a:extLst>
                    <a:ext uri="{9D8B030D-6E8A-4147-A177-3AD203B41FA5}">
                      <a16:colId xmlns:a16="http://schemas.microsoft.com/office/drawing/2014/main" val="2580921828"/>
                    </a:ext>
                  </a:extLst>
                </a:gridCol>
              </a:tblGrid>
              <a:tr h="5569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/>
                        </a:rPr>
                        <a:t>Scenario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/>
                        </a:rPr>
                        <a:t>CO₂ Assumption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/>
                </a:tc>
                <a:extLst>
                  <a:ext uri="{0D108BD9-81ED-4DB2-BD59-A6C34878D82A}">
                    <a16:rowId xmlns:a16="http://schemas.microsoft.com/office/drawing/2014/main" val="1806462584"/>
                  </a:ext>
                </a:extLst>
              </a:tr>
              <a:tr h="754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Baseline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Historical trend continued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1904742079"/>
                  </a:ext>
                </a:extLst>
              </a:tr>
              <a:tr h="873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Best-case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Kyoto Protocol (1997) reductions:</a:t>
                      </a:r>
                    </a:p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−2%, −5%, −8%, −10% for 2025–2028 then −2% p.a.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3169859961"/>
                  </a:ext>
                </a:extLst>
              </a:tr>
              <a:tr h="989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Worst-case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Accelerated growth: </a:t>
                      </a:r>
                    </a:p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+2%, +5%, +8%, +10% for 2025–2028 then +2% p.a.</a:t>
                      </a:r>
                      <a:endParaRPr lang="en-US" sz="3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239782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473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17D4E-1B9F-103B-3FBB-97A77A03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ADD5-00DF-4D63-E6C0-374479AE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2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Stage 1: Carbon dioxide (CO</a:t>
            </a:r>
            <a:r>
              <a:rPr lang="en-US" b="1" baseline="-25000" dirty="0"/>
              <a:t>2</a:t>
            </a:r>
            <a:r>
              <a:rPr lang="en-US" b="1" dirty="0"/>
              <a:t>) forecasts</a:t>
            </a:r>
          </a:p>
        </p:txBody>
      </p:sp>
      <p:sp>
        <p:nvSpPr>
          <p:cNvPr id="3" name="sub40">
            <a:extLst>
              <a:ext uri="{FF2B5EF4-FFF2-40B4-BE49-F238E27FC236}">
                <a16:creationId xmlns:a16="http://schemas.microsoft.com/office/drawing/2014/main" id="{E7CC6014-E47B-500A-099C-C36C7DF0B1DB}"/>
              </a:ext>
            </a:extLst>
          </p:cNvPr>
          <p:cNvSpPr txBox="1"/>
          <p:nvPr/>
        </p:nvSpPr>
        <p:spPr>
          <a:xfrm>
            <a:off x="357050" y="1371210"/>
            <a:ext cx="3700000" cy="232547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400" b="1" u="sng" dirty="0"/>
              <a:t>RMSE Champion in 5% test sample:</a:t>
            </a:r>
          </a:p>
          <a:p>
            <a:r>
              <a:rPr lang="en-US" sz="1400" b="1" dirty="0"/>
              <a:t>E[CO₂(t))] = SARIMA(1,1,2)</a:t>
            </a:r>
          </a:p>
        </p:txBody>
      </p:sp>
      <p:graphicFrame>
        <p:nvGraphicFramePr>
          <p:cNvPr id="5" name="tbl43">
            <a:extLst>
              <a:ext uri="{FF2B5EF4-FFF2-40B4-BE49-F238E27FC236}">
                <a16:creationId xmlns:a16="http://schemas.microsoft.com/office/drawing/2014/main" id="{E23A19AF-4DE9-12AA-28F0-0E144020F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297144"/>
              </p:ext>
            </p:extLst>
          </p:nvPr>
        </p:nvGraphicFramePr>
        <p:xfrm>
          <a:off x="346164" y="2027315"/>
          <a:ext cx="3287486" cy="1401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6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9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>
                          <a:effectLst/>
                        </a:rPr>
                        <a:t>Predictor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Coefficient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SE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p-value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7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AR(1)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0.998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0.007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&lt;0.001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7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MA(1)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-0.292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0.083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&lt;0.001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</a:rPr>
                        <a:t>MA(2)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-0.567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0.082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&lt;0.001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7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</a:rPr>
                        <a:t>σ²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0.507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0.053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&lt;0.001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28999138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52EFF79-474C-2C6A-71ED-0844118C9036}"/>
              </a:ext>
            </a:extLst>
          </p:cNvPr>
          <p:cNvSpPr txBox="1"/>
          <p:nvPr/>
        </p:nvSpPr>
        <p:spPr>
          <a:xfrm>
            <a:off x="357050" y="4897708"/>
            <a:ext cx="11586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CO2 model produces reliable baseline forecast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Scenarios' significant divergence reflects unrealistically aggressive scenario assumptions compounding over 50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scenario forecast declines toward ~0 ppm by 2070s is not physically achievable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D92FAC-4F72-82C0-2CDC-21A8EABA0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075" y="1414845"/>
            <a:ext cx="8122767" cy="33471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38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5A70-C6AC-BAA2-3D9F-7C73595E9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966"/>
          </a:xfrm>
        </p:spPr>
        <p:txBody>
          <a:bodyPr>
            <a:normAutofit fontScale="90000"/>
          </a:bodyPr>
          <a:lstStyle/>
          <a:p>
            <a:r>
              <a:rPr lang="en-US" dirty="0"/>
              <a:t>Stage 2: Global temperature forecasts</a:t>
            </a:r>
          </a:p>
        </p:txBody>
      </p:sp>
      <p:graphicFrame>
        <p:nvGraphicFramePr>
          <p:cNvPr id="5" name="tbl44">
            <a:extLst>
              <a:ext uri="{FF2B5EF4-FFF2-40B4-BE49-F238E27FC236}">
                <a16:creationId xmlns:a16="http://schemas.microsoft.com/office/drawing/2014/main" id="{22F6D062-8734-75AA-09F7-2B935992F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433575"/>
              </p:ext>
            </p:extLst>
          </p:nvPr>
        </p:nvGraphicFramePr>
        <p:xfrm>
          <a:off x="357050" y="2201480"/>
          <a:ext cx="3700000" cy="18661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9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</a:rPr>
                        <a:t>Predictor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Coefficient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p-value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0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ln(CO₂(t)) -ln(CO₂(t))   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2.061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0.664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effectLst/>
                        </a:rPr>
                        <a:t>0.002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MA(1)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−0.421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0.079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&lt;0.001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MA(2)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-0.293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0.089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0.001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σ²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0.005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0.001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&lt;0.001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33721552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D0C2A88-4D70-0738-002C-A448A61D43FF}"/>
              </a:ext>
            </a:extLst>
          </p:cNvPr>
          <p:cNvSpPr txBox="1"/>
          <p:nvPr/>
        </p:nvSpPr>
        <p:spPr>
          <a:xfrm>
            <a:off x="357050" y="4737946"/>
            <a:ext cx="11356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Strong evidence of CO</a:t>
            </a:r>
            <a:r>
              <a:rPr lang="en-US" baseline="-25000" dirty="0"/>
              <a:t>2</a:t>
            </a:r>
            <a:r>
              <a:rPr lang="en-US" dirty="0"/>
              <a:t> positive relation </a:t>
            </a:r>
            <a:r>
              <a:rPr lang="en-US"/>
              <a:t>with Temperature 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Large prediction errors due to unaccounted confounding factors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Simulated good and bad scenarios seemed implausible in the long run   </a:t>
            </a:r>
            <a:r>
              <a:rPr lang="en-US" baseline="-25000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ub40">
                <a:extLst>
                  <a:ext uri="{FF2B5EF4-FFF2-40B4-BE49-F238E27FC236}">
                    <a16:creationId xmlns:a16="http://schemas.microsoft.com/office/drawing/2014/main" id="{6F42CB4E-1FC7-52BE-2428-C869D4AEE92B}"/>
                  </a:ext>
                </a:extLst>
              </p:cNvPr>
              <p:cNvSpPr txBox="1"/>
              <p:nvPr/>
            </p:nvSpPr>
            <p:spPr>
              <a:xfrm>
                <a:off x="357050" y="1298572"/>
                <a:ext cx="3700000" cy="232547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r>
                  <a:rPr lang="en-US" sz="1400" b="1" u="sng" dirty="0"/>
                  <a:t>RMSE Champion in 5% test sample:</a:t>
                </a:r>
              </a:p>
              <a:p>
                <a:r>
                  <a:rPr lang="en-US" sz="1400" b="1" dirty="0"/>
                  <a:t>E[ln(Temperature (t)-ln(Temperature (t-1)] =</a:t>
                </a:r>
              </a:p>
              <a:p>
                <a:r>
                  <a:rPr lang="en-US" sz="1400" b="1" dirty="0"/>
                  <a:t> SARIMAX(0,0,2)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i="0" dirty="0"/>
                          <m:t>CO</m:t>
                        </m:r>
                        <m:r>
                          <m:rPr>
                            <m:nor/>
                          </m:rPr>
                          <a:rPr lang="en-US" sz="1400" i="0" dirty="0"/>
                          <m:t>₂</m:t>
                        </m:r>
                      </m:sub>
                    </m:sSub>
                  </m:oMath>
                </a14:m>
                <a:r>
                  <a:rPr lang="en-US" sz="1400" b="1" dirty="0"/>
                  <a:t>* (ln(CO₂(t) - ln(CO₂(t-1))</a:t>
                </a:r>
              </a:p>
              <a:p>
                <a:r>
                  <a:rPr lang="en-US" sz="1400" b="1" dirty="0"/>
                  <a:t> </a:t>
                </a:r>
              </a:p>
            </p:txBody>
          </p:sp>
        </mc:Choice>
        <mc:Fallback>
          <p:sp>
            <p:nvSpPr>
              <p:cNvPr id="4" name="sub40">
                <a:extLst>
                  <a:ext uri="{FF2B5EF4-FFF2-40B4-BE49-F238E27FC236}">
                    <a16:creationId xmlns:a16="http://schemas.microsoft.com/office/drawing/2014/main" id="{6F42CB4E-1FC7-52BE-2428-C869D4AEE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50" y="1298572"/>
                <a:ext cx="3700000" cy="232547"/>
              </a:xfrm>
              <a:prstGeom prst="rect">
                <a:avLst/>
              </a:prstGeom>
              <a:blipFill>
                <a:blip r:embed="rId3"/>
                <a:stretch>
                  <a:fillRect l="-2965" t="-23684" r="-988" b="-2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F56CD28-7E26-0B24-B5AB-9424EE4E9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809" y="1358252"/>
            <a:ext cx="7831493" cy="32246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9520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4578-2CB1-CC4B-CBEE-978B97C0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51A7-FFBF-03D8-C0FF-FE2ED60F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Stage 3: Sea level forecasts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42">
                <a:extLst>
                  <a:ext uri="{FF2B5EF4-FFF2-40B4-BE49-F238E27FC236}">
                    <a16:creationId xmlns:a16="http://schemas.microsoft.com/office/drawing/2014/main" id="{32B57E92-BD06-7A3F-6792-AE07DDB3416D}"/>
                  </a:ext>
                </a:extLst>
              </p:cNvPr>
              <p:cNvSpPr txBox="1"/>
              <p:nvPr/>
            </p:nvSpPr>
            <p:spPr>
              <a:xfrm>
                <a:off x="406132" y="1220050"/>
                <a:ext cx="5661586" cy="305408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r>
                  <a:rPr lang="en-US" sz="1400" b="1" u="sng" dirty="0"/>
                  <a:t>RMSE Champion in 5% test sample</a:t>
                </a:r>
              </a:p>
              <a:p>
                <a:r>
                  <a:rPr lang="en-US" sz="1400" b="1" dirty="0"/>
                  <a:t>E[ln(Sea Level (t))-(Sea Level (t-1)) ] = </a:t>
                </a:r>
              </a:p>
              <a:p>
                <a:r>
                  <a:rPr lang="en-US" sz="1400" b="1" dirty="0"/>
                  <a:t>SARIMAX(1,0,0)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1400" b="1" dirty="0"/>
                  <a:t>*ln(Temp(t)) -  ln(Temp(t-1)))</a:t>
                </a:r>
                <a:endParaRPr lang="en-US" sz="1100" dirty="0"/>
              </a:p>
              <a:p>
                <a:endParaRPr lang="en-US" sz="1400" b="1" dirty="0"/>
              </a:p>
            </p:txBody>
          </p:sp>
        </mc:Choice>
        <mc:Fallback xmlns="">
          <p:sp>
            <p:nvSpPr>
              <p:cNvPr id="5" name="sub42">
                <a:extLst>
                  <a:ext uri="{FF2B5EF4-FFF2-40B4-BE49-F238E27FC236}">
                    <a16:creationId xmlns:a16="http://schemas.microsoft.com/office/drawing/2014/main" id="{32B57E92-BD06-7A3F-6792-AE07DDB34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32" y="1220050"/>
                <a:ext cx="5661586" cy="305408"/>
              </a:xfrm>
              <a:prstGeom prst="rect">
                <a:avLst/>
              </a:prstGeom>
              <a:blipFill>
                <a:blip r:embed="rId3"/>
                <a:stretch>
                  <a:fillRect l="-1940" t="-18000" b="-14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bl45">
            <a:extLst>
              <a:ext uri="{FF2B5EF4-FFF2-40B4-BE49-F238E27FC236}">
                <a16:creationId xmlns:a16="http://schemas.microsoft.com/office/drawing/2014/main" id="{81967C46-5DCC-E865-6D6F-9C6A7B0F2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617124"/>
              </p:ext>
            </p:extLst>
          </p:nvPr>
        </p:nvGraphicFramePr>
        <p:xfrm>
          <a:off x="406132" y="2133410"/>
          <a:ext cx="4296496" cy="16896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7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4216">
                  <a:extLst>
                    <a:ext uri="{9D8B030D-6E8A-4147-A177-3AD203B41FA5}">
                      <a16:colId xmlns:a16="http://schemas.microsoft.com/office/drawing/2014/main" val="3661841140"/>
                    </a:ext>
                  </a:extLst>
                </a:gridCol>
              </a:tblGrid>
              <a:tr h="4530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</a:rPr>
                        <a:t>Predictor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Coefficient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SE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ARIMA</a:t>
                      </a:r>
                    </a:p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p-value</a:t>
                      </a:r>
                    </a:p>
                  </a:txBody>
                  <a:tcPr marL="45720" marR="4572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OLS </a:t>
                      </a:r>
                    </a:p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p-value</a:t>
                      </a:r>
                    </a:p>
                  </a:txBody>
                  <a:tcPr marL="45720" marR="4572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ln(Temp(t) − ln(Temp(t−1)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1.173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1.096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0.114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0.036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102"/>
                  </a:ext>
                </a:extLst>
              </a:tr>
              <a:tr h="308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AR(1)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−0.515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0.078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&lt;0.001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σ²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0.142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effectLst/>
                        </a:rPr>
                        <a:t>0.026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&lt;0.001</a:t>
                      </a:r>
                    </a:p>
                  </a:txBody>
                  <a:tcPr marL="45720" marR="45720" marT="27000" marB="27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</a:p>
                  </a:txBody>
                  <a:tcPr marL="45720" marR="45720" marT="27000" marB="27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19EA1E6-6D6E-667E-5592-78F72A7A607A}"/>
              </a:ext>
            </a:extLst>
          </p:cNvPr>
          <p:cNvSpPr txBox="1"/>
          <p:nvPr/>
        </p:nvSpPr>
        <p:spPr>
          <a:xfrm>
            <a:off x="406132" y="4472241"/>
            <a:ext cx="98351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Conclusions</a:t>
            </a:r>
          </a:p>
          <a:p>
            <a:pPr lvl="0"/>
            <a:r>
              <a:rPr lang="en-US" dirty="0"/>
              <a:t>Weak evidence of the Temperature relation with the Sea level and large prediction errors due to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Limited 64-obs training sample constraints statistical power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Strong seasonal pattern in the Sea level weakens the temperature effect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Potential confounding factors in a complex eco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Simulated good and bad scenarios seemed implausible in the long run   </a:t>
            </a:r>
            <a:r>
              <a:rPr lang="en-US" baseline="-250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A7D901-6BC1-2912-E674-497DC71D1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855" y="1220049"/>
            <a:ext cx="6982597" cy="34080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060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F78D1-39E3-55AD-BADE-57590BD1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FBDA-BA53-8CE7-62E5-501845F44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2971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Seemingly implausible results of the extreme stress test scenarios should serve as a warning for the policy makers on potential outcomes in case of their inaction.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Eugene Yankovsky">
            <a:extLst>
              <a:ext uri="{FF2B5EF4-FFF2-40B4-BE49-F238E27FC236}">
                <a16:creationId xmlns:a16="http://schemas.microsoft.com/office/drawing/2014/main" id="{6A2BCB05-AC8A-BF6E-5FAC-66CAE13F4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026" y="750227"/>
            <a:ext cx="3352877" cy="5602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F7A2A6-A649-12A9-7082-BFAA022DA65E}"/>
              </a:ext>
            </a:extLst>
          </p:cNvPr>
          <p:cNvSpPr txBox="1"/>
          <p:nvPr/>
        </p:nvSpPr>
        <p:spPr>
          <a:xfrm>
            <a:off x="3810001" y="6492875"/>
            <a:ext cx="3834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>
                <a:hlinkClick r:id="rId3"/>
              </a:rPr>
              <a:t>https://bbc.com/news/articles/cpvw8vmmgrwo</a:t>
            </a:r>
            <a:r>
              <a:rPr lang="en-US" sz="14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54FAD1-180C-8348-4908-84642DBE7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928" y="859464"/>
            <a:ext cx="4353681" cy="39543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BADB44-19C3-B45F-9430-F74338B9C644}"/>
              </a:ext>
            </a:extLst>
          </p:cNvPr>
          <p:cNvSpPr txBox="1"/>
          <p:nvPr/>
        </p:nvSpPr>
        <p:spPr>
          <a:xfrm>
            <a:off x="8505074" y="5259872"/>
            <a:ext cx="3686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5"/>
              </a:rPr>
              <a:t>https://www.economist.com/science-and-technology/2026/06/16/the-coming-el-nino-could-be-the-strongest-ever-recorded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5321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A266-9E5D-7D1B-CF3B-2E4E44BD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073AB-CDFD-ED41-AA5D-121549FC5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238"/>
            <a:ext cx="11027229" cy="4324804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sz="2200" dirty="0"/>
              <a:t>Global Surface Temperature Analysis, NASA Goddard Institute for Space Studies (GISS),  https://</a:t>
            </a:r>
            <a:r>
              <a:rPr lang="en-US" sz="2200" dirty="0" err="1"/>
              <a:t>data.giss.nasa.gov</a:t>
            </a:r>
            <a:r>
              <a:rPr lang="en-US" sz="2200" dirty="0"/>
              <a:t>/</a:t>
            </a:r>
            <a:r>
              <a:rPr lang="en-US" sz="2200" dirty="0" err="1"/>
              <a:t>gistemp</a:t>
            </a:r>
            <a:r>
              <a:rPr lang="en-US" sz="2200" dirty="0"/>
              <a:t>/</a:t>
            </a:r>
          </a:p>
          <a:p>
            <a:pPr lvl="0"/>
            <a:r>
              <a:rPr lang="en-US" sz="2200" dirty="0"/>
              <a:t>Climate Change Indicators: Global Sea Level, NOAA, https://</a:t>
            </a:r>
            <a:r>
              <a:rPr lang="en-US" sz="2200" dirty="0" err="1"/>
              <a:t>www.climate.gov</a:t>
            </a:r>
            <a:r>
              <a:rPr lang="en-US" sz="2200" dirty="0"/>
              <a:t>/news-features/understanding-climate/climate-change-global-sea-level</a:t>
            </a:r>
          </a:p>
          <a:p>
            <a:pPr lvl="0"/>
            <a:r>
              <a:rPr lang="en-US" sz="2200" dirty="0"/>
              <a:t>Reconstructed Global Mean Sea Level for 1880-2009, CSIRO, https://</a:t>
            </a:r>
            <a:r>
              <a:rPr lang="en-US" sz="2200" dirty="0" err="1"/>
              <a:t>data.csiro.au</a:t>
            </a:r>
            <a:r>
              <a:rPr lang="en-US" sz="2200" dirty="0"/>
              <a:t>/collection/csiro:19132</a:t>
            </a:r>
          </a:p>
          <a:p>
            <a:pPr lvl="0"/>
            <a:r>
              <a:rPr lang="en-US" sz="2200" dirty="0"/>
              <a:t>Global Sea Level Data Resources, University of Hawaii Sea Level Center (UHSLC), https://</a:t>
            </a:r>
            <a:r>
              <a:rPr lang="en-US" sz="2200" dirty="0" err="1"/>
              <a:t>uhslc.soest.hawaii.edu</a:t>
            </a:r>
            <a:r>
              <a:rPr lang="en-US" sz="2200" dirty="0"/>
              <a:t>/</a:t>
            </a:r>
          </a:p>
          <a:p>
            <a:pPr lvl="0"/>
            <a:r>
              <a:rPr lang="en-US" sz="2200" dirty="0"/>
              <a:t>Atmospheric CO₂ monitoring data, NOAA, https://</a:t>
            </a:r>
            <a:r>
              <a:rPr lang="en-US" sz="2200" dirty="0" err="1"/>
              <a:t>www.climate.gov</a:t>
            </a:r>
            <a:r>
              <a:rPr lang="en-US" sz="2200" dirty="0"/>
              <a:t>/news-features/understanding-climate/climate-change-atmospheric-carbon-dioxide</a:t>
            </a:r>
          </a:p>
          <a:p>
            <a:pPr lvl="0"/>
            <a:r>
              <a:rPr lang="en-US" sz="2200" dirty="0"/>
              <a:t>Box, G. E. P., Jenkins, G. M., Reinsel, G. C., &amp; Ljung, G. M. Time Series Analysis: Forecasting and Control. Wiley.</a:t>
            </a:r>
          </a:p>
          <a:p>
            <a:pPr lvl="0"/>
            <a:r>
              <a:rPr lang="en-US" sz="2200" dirty="0"/>
              <a:t>Hyndman, R. J., &amp; Athanasopoulos, G. Forecasting: Principles and Practice, 3rd edition, </a:t>
            </a:r>
            <a:r>
              <a:rPr lang="en-US" sz="22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https://otexts.com/fpp3/</a:t>
            </a:r>
            <a:endParaRPr lang="en-US" sz="2200" u="sng" dirty="0"/>
          </a:p>
          <a:p>
            <a:r>
              <a:rPr lang="en-US" sz="2200" dirty="0"/>
              <a:t>Our World in Data, </a:t>
            </a:r>
            <a:r>
              <a:rPr lang="en-US" sz="2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https://ourworldindata.org/grapher/co2-long-term-concentration</a:t>
            </a:r>
            <a:endParaRPr lang="en-US" sz="2200" dirty="0"/>
          </a:p>
          <a:p>
            <a:pPr lvl="0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46714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41b888d-8869-445f-b14b-7063fe47d597}" enabled="1" method="Standard" siteId="{9c272a06-9f0a-43f5-8e40-214a24c5098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5444</TotalTime>
  <Words>1710</Words>
  <Application>Microsoft Office PowerPoint</Application>
  <PresentationFormat>Widescreen</PresentationFormat>
  <Paragraphs>215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Cambria Math</vt:lpstr>
      <vt:lpstr>Office Theme</vt:lpstr>
      <vt:lpstr>Statistical Stress Testing of Changes in the Global Sea Level Under Alternative Climate Scenarios</vt:lpstr>
      <vt:lpstr>Agenda</vt:lpstr>
      <vt:lpstr>Three-Stage Model Framework</vt:lpstr>
      <vt:lpstr>Scenarios</vt:lpstr>
      <vt:lpstr>Stage 1: Carbon dioxide (CO2) forecasts</vt:lpstr>
      <vt:lpstr>Stage 2: Global temperature forecasts</vt:lpstr>
      <vt:lpstr>Stage 3: Sea level forecasts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Yankovsky</dc:creator>
  <cp:lastModifiedBy>Eugene Yankovsky</cp:lastModifiedBy>
  <cp:revision>41</cp:revision>
  <cp:lastPrinted>2026-07-31T00:02:04Z</cp:lastPrinted>
  <dcterms:created xsi:type="dcterms:W3CDTF">2026-06-07T04:52:55Z</dcterms:created>
  <dcterms:modified xsi:type="dcterms:W3CDTF">2026-08-20T16:44:42Z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**Internal**</vt:lpwstr>
  </property>
</Properties>
</file>