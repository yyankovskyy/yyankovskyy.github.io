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57" r:id="rId4"/>
    <p:sldId id="261" r:id="rId5"/>
    <p:sldId id="264" r:id="rId6"/>
    <p:sldId id="26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779" autoAdjust="0"/>
    <p:restoredTop sz="86444" autoAdjust="0"/>
  </p:normalViewPr>
  <p:slideViewPr>
    <p:cSldViewPr>
      <p:cViewPr varScale="1">
        <p:scale>
          <a:sx n="78" d="100"/>
          <a:sy n="78" d="100"/>
        </p:scale>
        <p:origin x="-113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15185C6-5CFE-46FC-B763-F0F7CAF9BB6E}" type="datetimeFigureOut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851951C-63D5-4A42-9C51-CD92942E99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6F55711-F123-401B-8FF7-32E81889042C}" type="datetimeFigureOut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C0A66CD-C42D-4DD3-88CC-BFA71ACE46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wsug.org/2011-proceeding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Report on Midwest SAS user group meeting 2011: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MWSUG 2011 at glance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Location: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Marriott Hotel, Kansas City,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Time: Sept.24-27, 2011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Conference program: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Pre-conference training classes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Presentations that were combined in the panels by topics: </a:t>
            </a:r>
            <a:r>
              <a:rPr lang="en-US" u="sng" dirty="0" smtClean="0">
                <a:hlinkClick r:id="rId3"/>
              </a:rPr>
              <a:t>http://www.mwsug.org/2011-proceedings.html</a:t>
            </a:r>
            <a:endParaRPr lang="en-US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Innovation center: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SAS demo from the SAS developers (SAS novelties, JMP, automated reporting in SAS);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Sessions with SAS software experts;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Time sessions with the application experts on modeling techniques (Bayesian Statistics, Multivariate analysis, Mixed models), SAS application (healthcare, BI, </a:t>
            </a:r>
            <a:r>
              <a:rPr lang="en-CA" dirty="0" err="1" smtClean="0"/>
              <a:t>pharma</a:t>
            </a:r>
            <a:r>
              <a:rPr lang="en-CA" dirty="0" smtClean="0"/>
              <a:t>).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Code doctor sessions.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My conference program: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Sunday, Sept.25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First-timer meeting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Opening ceremony with the keynote speaker Rick Langston, a founder of SAS 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Monday, Sept. 26 – Tuesday, Sept. 27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Attending presentations: </a:t>
            </a:r>
            <a:r>
              <a:rPr lang="en-US" u="sng" dirty="0" smtClean="0">
                <a:hlinkClick r:id="rId3"/>
              </a:rPr>
              <a:t>http://www.mwsug.org/2011-proceedings.html</a:t>
            </a:r>
            <a:endParaRPr lang="en-US" u="sng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Talking with the experts on SAS and JMP capabilities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Meeting with the advanced SAS users.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Networking opportunity: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SAS appreciation dinner in Boulevard Brewery, Kansas City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What did I get from the conference?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Boost in the knowledge on SAS capabilities and advanced coding techniques;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Clarifying some questions with SAS developers;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Get acquainted with the other people’s work and experience;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Professional networking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Opportunities for decreasing the conference expenses: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Get a presenter’s discount;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Use a volunteer’s discount;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CA" dirty="0" smtClean="0"/>
              <a:t>Apply for scholarships for: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students;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young professionals with up to 3 years of experience.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 smtClean="0"/>
              <a:t>Reasons  for attending the conference: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To increase SAS proficiency;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en-CA" dirty="0" smtClean="0"/>
              <a:t>To encourage SAS efficiency and productivity.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CA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CA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554D23-B0F1-48DE-89B1-04B98F32724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709D6B-237C-4809-A374-326BF90510D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5ABE45B8-C64F-4E3C-8AD3-016AC1C90A61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08A9C-A06B-41C2-846A-F115A309EC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543DE-4086-435E-81FE-B363523E7D06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00F1B-DEF8-4021-98DC-9AE9DE30A0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B51DD-F2CF-445D-8A98-24FAA9F340C0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4EC81-BC9E-40CF-AAC6-B47088EC7E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02854-0D0C-4403-8773-0B8567F69E97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F2AA-5849-4447-8169-F33BE6D14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E43B0-8478-4443-8354-4632D21437BC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71020-4955-44F5-BF4E-B4CCE2ADD9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E68C76-7119-4C38-8ECE-44AEA186A17C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F1E68-54D0-4FE6-A203-A009CB937E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F5D65-288A-4F32-A2A2-0C1212D5AD64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F1C98-6E9B-47E1-8FE6-0AA36238D2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BCB4B-BF04-4A18-9288-449DBC4E23DC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9A9ED-5C8B-4DE8-93C1-83B6A39AC9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6021-2A2E-4BF7-A873-E6E4307830CC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D6C72-AF04-4CB9-A7F6-5C69E36BBB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17C15-3F6D-4F31-A35D-A516B3D649E8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C02C6-3E8E-4185-930B-2629F2C493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58EAC-C7DB-4716-AA25-E5A6CAD8A378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90DCB-01DF-477A-907C-94C9DA9B82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1B1FCFC-60E1-4871-9C27-4C219317AA84}" type="datetime1">
              <a:rPr lang="en-US"/>
              <a:pPr>
                <a:defRPr/>
              </a:pPr>
              <a:t>10/25/2011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56E823D-B5FF-40F1-B844-40BDB2F0A0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9" r:id="rId2"/>
    <p:sldLayoutId id="2147483684" r:id="rId3"/>
    <p:sldLayoutId id="2147483680" r:id="rId4"/>
    <p:sldLayoutId id="2147483681" r:id="rId5"/>
    <p:sldLayoutId id="2147483685" r:id="rId6"/>
    <p:sldLayoutId id="2147483686" r:id="rId7"/>
    <p:sldLayoutId id="2147483687" r:id="rId8"/>
    <p:sldLayoutId id="2147483688" r:id="rId9"/>
    <p:sldLayoutId id="2147483682" r:id="rId10"/>
    <p:sldLayoutId id="214748368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wsug.org/kc2011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wsug.org/2011-proceeding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000" dirty="0" smtClean="0"/>
              <a:t>Eugene Yankovskyy,</a:t>
            </a:r>
            <a:br>
              <a:rPr lang="en-US" sz="2000" dirty="0" smtClean="0"/>
            </a:br>
            <a:r>
              <a:rPr lang="en-US" sz="2000" dirty="0" smtClean="0"/>
              <a:t>ATB Financial, Edmonton, Canada</a:t>
            </a:r>
            <a:br>
              <a:rPr lang="en-US" sz="2000" dirty="0" smtClean="0"/>
            </a:br>
            <a:r>
              <a:rPr lang="en-CA" sz="2000" dirty="0" smtClean="0"/>
              <a:t>yyankovskyy@atb.com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CA" dirty="0" smtClean="0"/>
              <a:t/>
            </a:r>
            <a:br>
              <a:rPr lang="en-CA" dirty="0" smtClean="0"/>
            </a:br>
            <a:endParaRPr lang="en-US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Autofit/>
          </a:bodyPr>
          <a:lstStyle/>
          <a:p>
            <a:pPr algn="ctr" fontAlgn="auto">
              <a:spcAft>
                <a:spcPts val="0"/>
              </a:spcAft>
              <a:buFont typeface="Wingdings 3"/>
              <a:buNone/>
              <a:defRPr/>
            </a:pPr>
            <a:r>
              <a:rPr lang="en-CA" sz="1600" dirty="0" smtClean="0">
                <a:solidFill>
                  <a:schemeClr val="tx1"/>
                </a:solidFill>
              </a:rPr>
              <a:t>ESUG meeting, October 26</a:t>
            </a:r>
            <a:r>
              <a:rPr lang="en-CA" sz="1600" baseline="30000" dirty="0" smtClean="0">
                <a:solidFill>
                  <a:schemeClr val="tx1"/>
                </a:solidFill>
              </a:rPr>
              <a:t>th</a:t>
            </a:r>
            <a:r>
              <a:rPr lang="en-CA" sz="1600" dirty="0" smtClean="0">
                <a:solidFill>
                  <a:schemeClr val="tx1"/>
                </a:solidFill>
              </a:rPr>
              <a:t>, 2011</a:t>
            </a:r>
          </a:p>
          <a:p>
            <a:pPr algn="ctr" fontAlgn="auto">
              <a:spcAft>
                <a:spcPts val="0"/>
              </a:spcAft>
              <a:buFont typeface="Wingdings 3"/>
              <a:buNone/>
              <a:defRPr/>
            </a:pPr>
            <a:r>
              <a:rPr lang="en-CA" sz="1600" dirty="0" smtClean="0">
                <a:solidFill>
                  <a:schemeClr val="tx1"/>
                </a:solidFill>
              </a:rPr>
              <a:t>Edmonton</a:t>
            </a:r>
            <a:endParaRPr lang="en-US" sz="1600" dirty="0" smtClean="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635375" y="908050"/>
            <a:ext cx="4537075" cy="223361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100" dirty="0">
                <a:latin typeface="+mj-lt"/>
                <a:ea typeface="+mj-ea"/>
                <a:cs typeface="+mj-cs"/>
              </a:rPr>
              <a:t>Report 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100" dirty="0">
                <a:latin typeface="+mj-lt"/>
                <a:ea typeface="+mj-ea"/>
                <a:cs typeface="+mj-cs"/>
              </a:rPr>
              <a:t> </a:t>
            </a:r>
            <a:r>
              <a:rPr lang="en-CA" sz="2100" b="1" dirty="0">
                <a:latin typeface="+mj-lt"/>
                <a:ea typeface="+mj-ea"/>
                <a:cs typeface="+mj-cs"/>
              </a:rPr>
              <a:t>Midwest SAS user group meeting,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100" b="1">
                <a:latin typeface="+mj-lt"/>
                <a:ea typeface="+mj-ea"/>
                <a:cs typeface="+mj-cs"/>
              </a:rPr>
              <a:t>Kansas </a:t>
            </a:r>
            <a:r>
              <a:rPr lang="en-CA" sz="2100" b="1" smtClean="0">
                <a:latin typeface="+mj-lt"/>
                <a:ea typeface="+mj-ea"/>
                <a:cs typeface="+mj-cs"/>
              </a:rPr>
              <a:t>City, </a:t>
            </a:r>
            <a:r>
              <a:rPr lang="en-CA" sz="2100" b="1" dirty="0">
                <a:latin typeface="+mj-lt"/>
                <a:ea typeface="+mj-ea"/>
                <a:cs typeface="+mj-cs"/>
              </a:rPr>
              <a:t>Sept.24-27, 2011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100" dirty="0">
                <a:latin typeface="+mj-lt"/>
                <a:ea typeface="+mj-ea"/>
                <a:cs typeface="+mj-cs"/>
              </a:rPr>
              <a:t/>
            </a:r>
            <a:br>
              <a:rPr lang="en-CA" sz="2100" dirty="0">
                <a:latin typeface="+mj-lt"/>
                <a:ea typeface="+mj-ea"/>
                <a:cs typeface="+mj-cs"/>
              </a:rPr>
            </a:br>
            <a:r>
              <a:rPr lang="en-CA" sz="3200" dirty="0">
                <a:latin typeface="+mj-lt"/>
                <a:ea typeface="+mj-ea"/>
                <a:cs typeface="+mj-cs"/>
              </a:rPr>
              <a:t/>
            </a:r>
            <a:br>
              <a:rPr lang="en-CA" sz="3200" dirty="0">
                <a:latin typeface="+mj-lt"/>
                <a:ea typeface="+mj-ea"/>
                <a:cs typeface="+mj-cs"/>
              </a:rPr>
            </a:br>
            <a:endParaRPr 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9221" name="Picture 5" descr="http://mwsug.org/images/mwsug11_2clogokboxfin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0113" y="981075"/>
            <a:ext cx="2376487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Conference program:</a:t>
            </a:r>
            <a:endParaRPr lang="en-US" dirty="0" smtClean="0"/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marL="514350" indent="-514350">
              <a:buSzPct val="90000"/>
              <a:buFont typeface="Bookman Old Style" pitchFamily="18" charset="0"/>
              <a:buAutoNum type="arabicPeriod"/>
            </a:pPr>
            <a:r>
              <a:rPr lang="en-CA" dirty="0" smtClean="0"/>
              <a:t>Pre-conference training classes (Sept. 24-25)</a:t>
            </a:r>
            <a:endParaRPr lang="en-US" dirty="0" smtClean="0"/>
          </a:p>
          <a:p>
            <a:pPr marL="514350" indent="-514350">
              <a:buSzPct val="90000"/>
              <a:buFont typeface="Bookman Old Style" pitchFamily="18" charset="0"/>
              <a:buAutoNum type="arabicPeriod"/>
            </a:pPr>
            <a:r>
              <a:rPr lang="en-CA" dirty="0" smtClean="0"/>
              <a:t>Opening ceremony with a keynote speaker Rick Langston, a founder of SAS (Sept. 24)</a:t>
            </a:r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SzPct val="90000"/>
              <a:buFont typeface="+mj-lt"/>
              <a:buAutoNum type="arabicPeriod"/>
              <a:defRPr/>
            </a:pPr>
            <a:r>
              <a:rPr lang="en-CA" dirty="0" smtClean="0"/>
              <a:t>Papers’ presentations divided into panels: </a:t>
            </a:r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dirty="0" smtClean="0">
                <a:hlinkClick r:id="rId2"/>
              </a:rPr>
              <a:t>http://www.mwsug.org/2011-proceedings.html</a:t>
            </a:r>
            <a:r>
              <a:rPr lang="en-US" dirty="0" smtClean="0"/>
              <a:t> </a:t>
            </a:r>
          </a:p>
          <a:p>
            <a:pPr marL="514350" indent="-514350">
              <a:buFont typeface="Bookman Old Style" pitchFamily="18" charset="0"/>
              <a:buAutoNum type="arabicPeriod"/>
            </a:pPr>
            <a:endParaRPr lang="en-US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10B4020B-B03E-463D-B824-6478036F356A}" type="slidenum">
              <a:rPr lang="en-US">
                <a:latin typeface="Arial" pitchFamily="34" charset="0"/>
                <a:cs typeface="Arial" pitchFamily="34" charset="0"/>
              </a:rPr>
              <a:pPr/>
              <a:t>2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Conference program: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SzPct val="100000"/>
              <a:buFont typeface="+mj-lt"/>
              <a:buAutoNum type="arabicPeriod" startAt="4"/>
              <a:defRPr/>
            </a:pPr>
            <a:r>
              <a:rPr lang="en-CA" sz="2000" dirty="0" smtClean="0"/>
              <a:t>Innovation center:</a:t>
            </a:r>
            <a:endParaRPr lang="en-US" sz="2000" dirty="0" smtClean="0"/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CA" sz="2000" dirty="0" smtClean="0"/>
              <a:t>Demos from SAS and JMP representatives;</a:t>
            </a:r>
            <a:endParaRPr lang="en-US" sz="2000" dirty="0" smtClean="0"/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CA" sz="2000" dirty="0" smtClean="0"/>
              <a:t>Meeting SAS and JMP consultants on modeling techniques, SAS, and JMP applications.</a:t>
            </a:r>
            <a:endParaRPr lang="en-US" sz="2000" dirty="0" smtClean="0"/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CA" sz="2000" dirty="0" smtClean="0"/>
              <a:t>Sessions with advanced SAS users’ at Code Doctor corner.</a:t>
            </a:r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SzPct val="100000"/>
              <a:buFont typeface="+mj-lt"/>
              <a:buAutoNum type="arabicPeriod" startAt="5"/>
              <a:defRPr/>
            </a:pPr>
            <a:r>
              <a:rPr lang="en-CA" sz="2000" dirty="0" smtClean="0"/>
              <a:t>SAS appreciation dinner in Boulevard Brewery, Kansas City: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CA" sz="2000" dirty="0" smtClean="0"/>
              <a:t>Opportunities for professional networking.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CA" sz="2000" dirty="0" smtClean="0"/>
              <a:t>Local jazz band.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400" dirty="0" smtClean="0"/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8711333B-EB48-46FA-98DB-05B89F9C47B9}" type="slidenum">
              <a:rPr lang="en-US">
                <a:latin typeface="Arial" pitchFamily="34" charset="0"/>
                <a:cs typeface="Arial" pitchFamily="34" charset="0"/>
              </a:rPr>
              <a:pPr/>
              <a:t>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What did I get from the conference?</a:t>
            </a:r>
            <a:endParaRPr lang="en-US" dirty="0" smtClean="0"/>
          </a:p>
        </p:txBody>
      </p:sp>
      <p:sp>
        <p:nvSpPr>
          <p:cNvPr id="14339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065F6D3A-BA25-47F1-9C6D-005B17E1BF42}" type="slidenum">
              <a:rPr lang="en-US">
                <a:latin typeface="Arial" pitchFamily="34" charset="0"/>
                <a:cs typeface="Arial" pitchFamily="34" charset="0"/>
              </a:rPr>
              <a:pPr/>
              <a:t>4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400" dirty="0" smtClean="0"/>
              <a:t>Got feedback on my ideas from the experts;</a:t>
            </a:r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400" dirty="0" smtClean="0"/>
              <a:t>Gained knowledge on new SAS capabilities and advanced coding techniques;</a:t>
            </a:r>
            <a:endParaRPr lang="en-US" sz="2400" dirty="0" smtClean="0"/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400" dirty="0" smtClean="0"/>
              <a:t>Clarified some questions on SAS and JMP applications;</a:t>
            </a:r>
            <a:endParaRPr lang="en-US" sz="2400" dirty="0" smtClean="0"/>
          </a:p>
          <a:p>
            <a:pPr marL="514350" indent="-51435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sz="2400" dirty="0" smtClean="0"/>
              <a:t>Met interesting people and SAS experts.</a:t>
            </a:r>
          </a:p>
          <a:p>
            <a:pPr marL="514350" indent="-514350" fontAlgn="auto">
              <a:spcAft>
                <a:spcPts val="0"/>
              </a:spcAft>
              <a:buNone/>
              <a:defRPr/>
            </a:pPr>
            <a:endParaRPr lang="en-CA" dirty="0" smtClean="0"/>
          </a:p>
          <a:p>
            <a:pPr marL="514350" indent="-514350" fontAlgn="auto">
              <a:spcAft>
                <a:spcPts val="0"/>
              </a:spcAft>
              <a:buNone/>
              <a:defRPr/>
            </a:pPr>
            <a:r>
              <a:rPr lang="en-CA" dirty="0" smtClean="0"/>
              <a:t> </a:t>
            </a:r>
            <a:endParaRPr lang="en-US" dirty="0" smtClean="0"/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Next meeting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Midwest SAS User Group meeting (MWSUG) in Minneapolis, September, 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C00F1B-DEF8-4021-98DC-9AE9DE30A0E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CA" dirty="0" smtClean="0"/>
              <a:t>How to minimize the cost</a:t>
            </a:r>
            <a:endParaRPr lang="en-US" dirty="0"/>
          </a:p>
        </p:txBody>
      </p:sp>
      <p:sp>
        <p:nvSpPr>
          <p:cNvPr id="1638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F787353-6987-498E-99BA-AA947481FF3D}" type="slidenum">
              <a:rPr lang="en-US">
                <a:latin typeface="Arial" pitchFamily="34" charset="0"/>
                <a:cs typeface="Arial" pitchFamily="34" charset="0"/>
              </a:rPr>
              <a:pPr/>
              <a:t>6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dirty="0" smtClean="0"/>
              <a:t>Get a presenter’s waiver or discount;</a:t>
            </a:r>
            <a:endParaRPr lang="en-US" dirty="0" smtClean="0"/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CA" dirty="0" smtClean="0"/>
              <a:t>Apply for scholarships for:</a:t>
            </a:r>
            <a:endParaRPr lang="en-US" dirty="0" smtClean="0"/>
          </a:p>
          <a:p>
            <a:pPr marL="514350" indent="-514350" fontAlgn="auto">
              <a:spcAft>
                <a:spcPts val="0"/>
              </a:spcAft>
              <a:buFont typeface="+mj-lt"/>
              <a:buAutoNum type="alphaLcParenR"/>
              <a:defRPr/>
            </a:pPr>
            <a:r>
              <a:rPr lang="en-CA" dirty="0" smtClean="0"/>
              <a:t>students;</a:t>
            </a:r>
            <a:endParaRPr lang="en-US" dirty="0" smtClean="0"/>
          </a:p>
          <a:p>
            <a:pPr marL="514350" indent="-514350" fontAlgn="auto">
              <a:spcAft>
                <a:spcPts val="0"/>
              </a:spcAft>
              <a:buFont typeface="+mj-lt"/>
              <a:buAutoNum type="alphaLcParenR"/>
              <a:defRPr/>
            </a:pPr>
            <a:r>
              <a:rPr lang="en-CA" dirty="0" smtClean="0"/>
              <a:t>young professionals with up to 3 years of experience.</a:t>
            </a:r>
            <a:endParaRPr lang="en-US" dirty="0" smtClean="0"/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204</TotalTime>
  <Words>481</Words>
  <Application>Microsoft Office PowerPoint</Application>
  <PresentationFormat>On-screen Show (4:3)</PresentationFormat>
  <Paragraphs>89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Origin</vt:lpstr>
      <vt:lpstr>Eugene Yankovskyy, ATB Financial, Edmonton, Canada yyankovskyy@atb.com  </vt:lpstr>
      <vt:lpstr>Conference program:</vt:lpstr>
      <vt:lpstr>Conference program:</vt:lpstr>
      <vt:lpstr>What did I get from the conference?</vt:lpstr>
      <vt:lpstr>Next meeting</vt:lpstr>
      <vt:lpstr>How to minimize the cost</vt:lpstr>
    </vt:vector>
  </TitlesOfParts>
  <Company>ATB Financial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Yevhen (Eugene) Yankovskyy</dc:creator>
  <cp:lastModifiedBy>Eugene</cp:lastModifiedBy>
  <cp:revision>27</cp:revision>
  <dcterms:created xsi:type="dcterms:W3CDTF">2011-09-30T22:24:45Z</dcterms:created>
  <dcterms:modified xsi:type="dcterms:W3CDTF">2011-10-26T03:49:41Z</dcterms:modified>
</cp:coreProperties>
</file>